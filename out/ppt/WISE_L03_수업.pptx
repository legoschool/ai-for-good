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배울 것을 한 문장으로 소개한다.</a:t>
            </a:r>
          </a:p>
          <a:p>
            <a:r>
              <a:t>AI의 결과에 담긴 치우침을 찾고, 그 까닭을 데이터에서 찾아봅시다.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학습 문제를 함께 소리 내어 읽는다.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동기 유발</a:t>
            </a:r>
          </a:p>
          <a:p>
            <a:r>
              <a:t>- ‘의사’와 ‘간호사’를 그려 달라고 했더니 이런 그림이 나왔습니다. 무엇이 보이나요?</a:t>
            </a:r>
          </a:p>
          <a:p>
            <a:r>
              <a:t>  · 의사는 남자, 간호사는 여자만 나왔습니다.</a:t>
            </a:r>
          </a:p>
          <a:p>
            <a:r>
              <a:t>- AI는 왜 이렇게 그렸을까요?</a:t>
            </a:r>
          </a:p>
          <a:p>
            <a:r>
              <a:t>  · 그런 사진을 더 많이 보고 배웠기 때문인 것 같습니다.</a:t>
            </a:r>
          </a:p>
          <a:p/>
          <a:p>
            <a:r>
              <a:t>준비물</a:t>
            </a:r>
          </a:p>
          <a:p>
            <a:r>
              <a:t>☆ 생성형 이미지·번역 도구(교사 시연)</a:t>
            </a:r>
          </a:p>
          <a:p>
            <a:r>
              <a:t>★ 학습문제 PPT</a:t>
            </a:r>
          </a:p>
          <a:p>
            <a:r>
              <a:t>△ 특정 성별·직업·나라를 비하하는 표현이 나오지 않게 사전 확인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[활동 1] 편향 사례 관찰하기</a:t>
            </a:r>
          </a:p>
          <a:p>
            <a:r>
              <a:t>- 그림과 번역 결과를 보고 치우쳐 보이는 곳에 표시해 봅시다.</a:t>
            </a:r>
          </a:p>
          <a:p>
            <a:r>
              <a:t>  · 직업에 따라 나오는 사람의 모습이 정해져 있습니다.</a:t>
            </a:r>
          </a:p>
          <a:p>
            <a:r>
              <a:t>- 번역기에서 성별이 없는 말을 옮기면 어떻게 되나요?</a:t>
            </a:r>
          </a:p>
          <a:p>
            <a:r>
              <a:t>  · ‘그’로만 바뀌었습니다.</a:t>
            </a:r>
          </a:p>
          <a:p/>
          <a:p>
            <a:r>
              <a:t>준비물·유의점</a:t>
            </a:r>
          </a:p>
          <a:p>
            <a:r>
              <a:t>★ 편향 관찰 카드</a:t>
            </a:r>
          </a:p>
          <a:p>
            <a:r>
              <a:t>★ 웹앱 편향 관찰 갤러리</a:t>
            </a:r>
          </a:p>
          <a:p>
            <a:r>
              <a:t>△ 결과를 비웃는 분위기가 되지 않도록 지도</a:t>
            </a:r>
          </a:p>
          <a:p>
            <a:r>
              <a:t>△ 원인을 사람과 데이터로 되돌리는 발문에 집중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[활동 2] 원인을 데이터에서 찾기</a:t>
            </a:r>
          </a:p>
          <a:p>
            <a:r>
              <a:t>- 1차시에서 데이터를 줄였을 때 무슨 일이 있었는지 떠올려 봅시다.</a:t>
            </a:r>
          </a:p>
          <a:p>
            <a:r>
              <a:t>  · 적게 배운 쪽을 자주 틀렸습니다.</a:t>
            </a:r>
          </a:p>
          <a:p>
            <a:r>
              <a:t>- 그렇다면 이 편향의 원인은 무엇일까요?</a:t>
            </a:r>
          </a:p>
          <a:p>
            <a:r>
              <a:t>  · 사람들이 모아 준 데이터가 이미 한쪽으로 치우쳐 있었기 때문입니다.</a:t>
            </a:r>
          </a:p>
          <a:p/>
          <a:p>
            <a:r>
              <a:t>준비물·유의점</a:t>
            </a:r>
          </a:p>
          <a:p>
            <a:r>
              <a:t>★ 편향 관찰 카드</a:t>
            </a:r>
          </a:p>
          <a:p>
            <a:r>
              <a:t>★ 웹앱 편향 관찰 갤러리</a:t>
            </a:r>
          </a:p>
          <a:p>
            <a:r>
              <a:t>△ 결과를 비웃는 분위기가 되지 않도록 지도</a:t>
            </a:r>
          </a:p>
          <a:p>
            <a:r>
              <a:t>△ 원인을 사람과 데이터로 되돌리는 발문에 집중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[활동 3] 누가 불편해질까</a:t>
            </a:r>
          </a:p>
          <a:p>
            <a:r>
              <a:t>- 이런 결과가 계속 쌓이면 누가 불편해질까요?</a:t>
            </a:r>
          </a:p>
          <a:p>
            <a:r>
              <a:t>  · 그 직업을 꿈꾸는 친구들이 자기 자리가 아니라고 느낄 수 있습니다.</a:t>
            </a:r>
          </a:p>
          <a:p/>
          <a:p>
            <a:r>
              <a:t>준비물·유의점</a:t>
            </a:r>
          </a:p>
          <a:p>
            <a:r>
              <a:t>★ 편향 관찰 카드</a:t>
            </a:r>
          </a:p>
          <a:p>
            <a:r>
              <a:t>★ 웹앱 편향 관찰 갤러리</a:t>
            </a:r>
          </a:p>
          <a:p>
            <a:r>
              <a:t>△ 결과를 비웃는 분위기가 되지 않도록 지도</a:t>
            </a:r>
          </a:p>
          <a:p>
            <a:r>
              <a:t>△ 원인을 사람과 데이터로 되돌리는 발문에 집중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방 코드를 만들어 화면에 크게 띄운다.</a:t>
            </a:r>
          </a:p>
          <a:p>
            <a:r>
              <a:t>혼자 체험 경로도 함께 안내한다.</a:t>
            </a:r>
          </a:p>
          <a:p>
            <a:r>
              <a:t>교사 화면 : 사례별 학생 설명 문장을 모아 학급 화면으로 띄우기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1인 1기기가 아니어도 모두 참여하게 한다.</a:t>
            </a:r>
          </a:p>
          <a:p>
            <a:r>
              <a:t>학생이 직접 이미지 생성 도구를 다루지 않는다. 교사 시연으로 한다.</a:t>
            </a:r>
          </a:p>
          <a:p>
            <a:r>
              <a:t>특정 성별·직업·나라를 비하하는 표현이 나오지 않게 사전 확인한다.</a:t>
            </a:r>
          </a:p>
          <a:p>
            <a:r>
              <a:t>결과를 비웃는 분위기가 되지 않게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배움 정리</a:t>
            </a:r>
          </a:p>
          <a:p>
            <a:r>
              <a:t>- AI의 편견은 어디에서 왔나요?</a:t>
            </a:r>
          </a:p>
          <a:p>
            <a:r>
              <a:t>  · 사람이 모은 데이터에서 왔습니다. 그래서 사람이 고칠 수도 있습니다.</a:t>
            </a:r>
          </a:p>
          <a:p/>
          <a:p>
            <a:r>
              <a:t>준비물</a:t>
            </a:r>
          </a:p>
          <a:p>
            <a:r>
              <a:t>★ 배움 공책</a:t>
            </a:r>
          </a:p>
          <a:p>
            <a:r>
              <a:t>△ ‘AI는 나쁘다’가 아니라 ‘사람이 고칠 수 있다’로 마무리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다음 차시 예고</a:t>
            </a:r>
          </a:p>
          <a:p>
            <a:r>
              <a:t>- 다음 시간에는 AI에 넣어도 되는 정보를 가려 봅시다.</a:t>
            </a:r>
          </a:p>
          <a:p/>
          <a:p>
            <a:r>
              <a:t>준비물</a:t>
            </a:r>
          </a:p>
          <a:p>
            <a:r>
              <a:t>★ 배움 공책</a:t>
            </a:r>
          </a:p>
          <a:p>
            <a:r>
              <a:t>△ ‘AI는 나쁘다’가 아니라 ‘사람이 고칠 수 있다’로 마무리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수업 시작 전에 방을 만들어 둔다.</a:t>
            </a:r>
          </a:p>
          <a:p>
            <a:r>
              <a:t>학생에게는 방 번호와 닉네임만 알려 준다. 이름을 묻지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학생 화면을 띄워 놓고 함께 입장한다.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화면에서 학생이 무엇을 하는지 먼저 말해 준다.</a:t>
            </a:r>
          </a:p>
          <a:p>
            <a:r>
              <a:t>판단이 갈리는 자리에서 까닭을 묻는다.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화면에서 학생이 무엇을 하는지 먼저 말해 준다.</a:t>
            </a:r>
          </a:p>
          <a:p>
            <a:r>
              <a:t>판단이 갈리는 자리에서 까닭을 묻는다.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화면에서 학생이 무엇을 하는지 먼저 말해 준다.</a:t>
            </a:r>
          </a:p>
          <a:p>
            <a:r>
              <a:t>판단이 갈리는 자리에서 까닭을 묻는다.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화면에서 학생이 무엇을 하는지 먼저 말해 준다.</a:t>
            </a:r>
          </a:p>
          <a:p>
            <a:r>
              <a:t>판단이 갈리는 자리에서 까닭을 묻는다.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화면에서 학생이 무엇을 하는지 먼저 말해 준다.</a:t>
            </a:r>
          </a:p>
          <a:p>
            <a:r>
              <a:t>판단이 갈리는 자리에서 까닭을 묻는다.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화면에서 학생이 무엇을 하는지 먼저 말해 준다.</a:t>
            </a:r>
          </a:p>
          <a:p>
            <a:r>
              <a:t>판단이 갈리는 자리에서 까닭을 묻는다.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제출이 모이면 갈린 항목부터 함께 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배운 것을 학생이 한 문장으로 말하게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2563EB"/>
                </a:solidFill>
                <a:latin typeface="맑은 고딕"/>
              </a:rPr>
              <a:t>3차시  ·  모듈1 WISE 발견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4577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800" b="1">
                <a:solidFill>
                  <a:srgbClr val="1F2937"/>
                </a:solidFill>
                <a:latin typeface="맑은 고딕"/>
              </a:rPr>
              <a:t>AI도 편견을 가질까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14800"/>
            <a:ext cx="1054577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6B7280"/>
                </a:solidFill>
                <a:latin typeface="맑은 고딕"/>
              </a:rPr>
              <a:t>AI의 결과에 담긴 치우침을 찾고, 그 까닭을 데이터에서 찾아봅시다.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4360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맑은 고딕"/>
              </a:rPr>
              <a:t>2026년 G-DEAL A.N.D · CC BY-NC-SA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94560"/>
            <a:ext cx="12191695" cy="246888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2563EB"/>
                </a:solidFill>
                <a:latin typeface="맑은 고딕"/>
              </a:rPr>
              <a:t>학습 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10545775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1F2937"/>
                </a:solidFill>
                <a:latin typeface="맑은 고딕"/>
              </a:rPr>
              <a:t>AI의 결과에 담긴 치우침을 찾고, 그 까닭을 데이터에서 찾아봅시다.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도입 · 동기 유발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‘의사’와 ‘간호사’를 그려 달라고 했더니 이런 그림이 나왔습니다. 무엇이 보이나요?</a:t>
            </a:r>
          </a:p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AI는 왜 이렇게 그렸을까요?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2563EB"/>
                </a:solidFill>
                <a:latin typeface="맑은 고딕"/>
              </a:rPr>
              <a:t>[활동 1] 편향 사례 관찰하기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그림과 번역 결과를 보고 치우쳐 보이는 곳에 표시해 봅시다.</a:t>
            </a:r>
          </a:p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번역기에서 성별이 없는 말을 옮기면 어떻게 되나요?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2563EB"/>
                </a:solidFill>
                <a:latin typeface="맑은 고딕"/>
              </a:rPr>
              <a:t>[활동 2] 원인을 데이터에서 찾기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1차시에서 데이터를 줄였을 때 무슨 일이 있었는지 떠올려 봅시다.</a:t>
            </a:r>
          </a:p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그렇다면 이 편향의 원인은 무엇일까요?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2563EB"/>
                </a:solidFill>
                <a:latin typeface="맑은 고딕"/>
              </a:rPr>
              <a:t>[활동 3] 누가 불편해질까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이런 결과가 계속 쌓이면 누가 불편해질까요?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오늘 쓰는 웹앱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4577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800" b="1">
                <a:solidFill>
                  <a:srgbClr val="1F2937"/>
                </a:solidFill>
                <a:latin typeface="맑은 고딕"/>
              </a:rPr>
              <a:t>편향 관찰 갤러리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054577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6B7280"/>
                </a:solidFill>
                <a:latin typeface="맑은 고딕"/>
              </a:rPr>
              <a:t>교사가 올린 편향 사례를 학생이 관찰하고, 치우친 지점과 그 원인을 데이터와 연결해 기록한다.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657600"/>
            <a:ext cx="10545775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사례 관찰 화면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치우친 지점 표시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원인 설명 문장 쓰기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누가 불편해질까 모으기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03120"/>
            <a:ext cx="12191695" cy="23774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28016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기기가 없어도 함께합니다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60320"/>
            <a:ext cx="10545775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생성형 도구를 쓰지 않고, 교사가 미리 준비한 편향 사례 인쇄 카드로 동일한 관찰·설명 활동을 한다.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정리 · 배움 정리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AI의 편견은 어디에서 왔나요?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정리 · 다음 차시 예고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다음 시간에는 AI에 넣어도 되는 정보를 가려 봅시다.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웹앱으로 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7665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F2937"/>
                </a:solidFill>
                <a:latin typeface="맑은 고딕"/>
              </a:rPr>
              <a:t>편향 관찰 갤러리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51760"/>
            <a:ext cx="67665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800" b="0">
                <a:solidFill>
                  <a:srgbClr val="1F2937"/>
                </a:solidFill>
                <a:latin typeface="맑은 고딕"/>
              </a:rPr>
              <a:t>교사가 올린 편향 사례를 학생이 관찰하고, 치우친 지점과 그 원인을 데이터와 연결해 기록한다.</a:t>
            </a:r>
          </a:p>
          <a:p>
            <a:pPr algn="l">
              <a:lnSpc>
                <a:spcPct val="150000"/>
              </a:lnSpc>
            </a:pPr>
            <a:r>
              <a:rPr sz="1800" b="0">
                <a:solidFill>
                  <a:srgbClr val="1F2937"/>
                </a:solidFill>
                <a:latin typeface="맑은 고딕"/>
              </a:rPr>
              <a:t>수업 전에 선생님 화면 → 새 방 만들기 → 방 번호를 칠판에 적는다.</a:t>
            </a:r>
          </a:p>
          <a:p>
            <a:pPr algn="l">
              <a:lnSpc>
                <a:spcPct val="150000"/>
              </a:lnSpc>
            </a:pPr>
            <a:r>
              <a:rPr sz="1800" b="0">
                <a:solidFill>
                  <a:srgbClr val="1F2937"/>
                </a:solidFill>
                <a:latin typeface="맑은 고딕"/>
              </a:rPr>
              <a:t>학생은 QR 을 찍거나 주소를 열고 방 번호와 닉네임을 넣는다.</a:t>
            </a:r>
          </a:p>
          <a:p>
            <a:pPr algn="l">
              <a:lnSpc>
                <a:spcPct val="150000"/>
              </a:lnSpc>
            </a:pPr>
            <a:r>
              <a:rPr sz="1800" b="0">
                <a:solidFill>
                  <a:srgbClr val="1F2937"/>
                </a:solidFill>
                <a:latin typeface="맑은 고딕"/>
              </a:rPr>
              <a:t>https://legoschool.github.io/wise-ai/webapp/L03/</a:t>
            </a:r>
          </a:p>
        </p:txBody>
      </p:sp>
      <p:pic>
        <p:nvPicPr>
          <p:cNvPr id="6" name="Picture 5" descr="L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1828800"/>
            <a:ext cx="274320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학생 입장 화면</a:t>
            </a:r>
          </a:p>
        </p:txBody>
      </p:sp>
      <p:pic>
        <p:nvPicPr>
          <p:cNvPr id="4" name="Picture 3" descr="L03_0_입장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4293704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463040"/>
            <a:ext cx="4754880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방 번호 여섯 자리와 닉네임만 넣는다.</a:t>
            </a:r>
          </a:p>
          <a:p>
            <a:pPr algn="l">
              <a:lnSpc>
                <a:spcPct val="16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나만 아는 숫자 네 자리는 사전과 사후 설문을 잇는 데만 쓴다.</a:t>
            </a:r>
          </a:p>
          <a:p>
            <a:pPr algn="l">
              <a:lnSpc>
                <a:spcPct val="16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기기가 없으면 둘러보기로 교사가 시연한다.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웹앱 1단계 · 허브</a:t>
            </a:r>
          </a:p>
        </p:txBody>
      </p:sp>
      <p:pic>
        <p:nvPicPr>
          <p:cNvPr id="4" name="Picture 3" descr="L03_2_hu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526971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645920"/>
            <a:ext cx="47548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사례 관찰 화면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학생이 여기서 남긴 것이 활동지와 이어진다.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웹앱 2단계 · guess</a:t>
            </a:r>
          </a:p>
        </p:txBody>
      </p:sp>
      <p:pic>
        <p:nvPicPr>
          <p:cNvPr id="4" name="Picture 3" descr="L03_3_gu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526971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645920"/>
            <a:ext cx="47548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치우친 지점 표시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학생이 여기서 남긴 것이 활동지와 이어진다.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웹앱 3단계 · draw</a:t>
            </a:r>
          </a:p>
        </p:txBody>
      </p:sp>
      <p:pic>
        <p:nvPicPr>
          <p:cNvPr id="4" name="Picture 3" descr="L03_4_dra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526971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645920"/>
            <a:ext cx="47548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원인 설명 문장 쓰기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학생이 여기서 남긴 것이 활동지와 이어진다.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웹앱 4단계 · num</a:t>
            </a:r>
          </a:p>
        </p:txBody>
      </p:sp>
      <p:pic>
        <p:nvPicPr>
          <p:cNvPr id="4" name="Picture 3" descr="L03_5_n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526971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645920"/>
            <a:ext cx="47548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누가 불편해질까 모으기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학생이 여기서 남긴 것이 활동지와 이어진다.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웹앱 5단계 · store</a:t>
            </a:r>
          </a:p>
        </p:txBody>
      </p:sp>
      <p:pic>
        <p:nvPicPr>
          <p:cNvPr id="4" name="Picture 3" descr="L03_6_st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526971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645920"/>
            <a:ext cx="47548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store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학생이 여기서 남긴 것이 활동지와 이어진다.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웹앱 6단계 · who</a:t>
            </a:r>
          </a:p>
        </p:txBody>
      </p:sp>
      <p:pic>
        <p:nvPicPr>
          <p:cNvPr id="4" name="Picture 3" descr="L03_7_wh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80160"/>
            <a:ext cx="3526971" cy="4937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949440" y="1645920"/>
            <a:ext cx="47548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who</a:t>
            </a:r>
          </a:p>
          <a:p>
            <a:pPr algn="l">
              <a:lnSpc>
                <a:spcPct val="160000"/>
              </a:lnSpc>
            </a:pPr>
            <a:r>
              <a:rPr sz="2200" b="0">
                <a:solidFill>
                  <a:srgbClr val="1F2937"/>
                </a:solidFill>
                <a:latin typeface="맑은 고딕"/>
              </a:rPr>
              <a:t>학생이 여기서 남긴 것이 활동지와 이어진다.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교사 화면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사례별 학생 설명 문장을 모아 학급 화면으로 띄우기</a:t>
            </a:r>
          </a:p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결과 크게 띄우기를 누르면 학급 화면으로 함께 본다.</a:t>
            </a:r>
          </a:p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CSV 로 내려받고, 수업이 끝나면 방을 잠근다.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2563EB"/>
                </a:solidFill>
                <a:latin typeface="맑은 고딕"/>
              </a:rPr>
              <a:t>오늘의 배움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· AI의 편향은 사람이 만든 데이터에서 비롯되며, 사회적 편견을 더 키울 수 있다.</a:t>
            </a:r>
          </a:p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· AI가 특정 집단에 불리한 결과를 내지 않는 것이 공정성이다.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94360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맑은 고딕"/>
              </a:rPr>
              <a:t>2026년 G-DEAL A.N.D · CC BY-NC-SA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