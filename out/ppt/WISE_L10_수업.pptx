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 배울 것을 한 문장으로 소개한다.</a:t>
            </a:r>
          </a:p>
          <a:p>
            <a:r>
              <a:t>나의 AI 사용 습관을 점검하고 디지털 웰빙 약속을 정해 봅시다.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학습 문제를 함께 소리 내어 읽는다.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동기 유발</a:t>
            </a:r>
          </a:p>
          <a:p>
            <a:r>
              <a:t>- AI가 아주 잘하는 일 세 가지를 말해 봅시다.</a:t>
            </a:r>
          </a:p>
          <a:p>
            <a:r>
              <a:t>  · 빠르게 정리하기, 예시 만들기, 번역하기입니다.</a:t>
            </a:r>
          </a:p>
          <a:p>
            <a:r>
              <a:t>- 그럼 AI가 못 하는 일도 있을까요?</a:t>
            </a:r>
          </a:p>
          <a:p>
            <a:r>
              <a:t>  · 제 마음을 진짜로 알아주는 일은 못 할 것 같습니다.</a:t>
            </a:r>
          </a:p>
          <a:p/>
          <a:p>
            <a:r>
              <a:t>준비물</a:t>
            </a:r>
          </a:p>
          <a:p>
            <a:r>
              <a:t>☆ 학습문제 PPT</a:t>
            </a:r>
          </a:p>
          <a:p>
            <a:r>
              <a:t>★ 자가 점검표</a:t>
            </a:r>
          </a:p>
          <a:p>
            <a:r>
              <a:t>△ 사용량이 많은 학생을 지적하는 분위기가 되지 않게 안내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[활동 1] 일주일 사용 습관 점검하기</a:t>
            </a:r>
          </a:p>
          <a:p>
            <a:r>
              <a:t>- 점검표에 최근 일주일 동안 AI를 언제, 왜 썼는지 표시해 봅시다.</a:t>
            </a:r>
          </a:p>
          <a:p>
            <a:r>
              <a:t>  · 숙제할 때 가장 많이 썼습니다.</a:t>
            </a:r>
          </a:p>
          <a:p>
            <a:r>
              <a:t>- 그중 보조였던 것과 대행이었던 것을 나눠 봅시다.</a:t>
            </a:r>
          </a:p>
          <a:p>
            <a:r>
              <a:t>  · 절반쯤은 대행에 가까웠습니다.</a:t>
            </a:r>
          </a:p>
          <a:p/>
          <a:p>
            <a:r>
              <a:t>준비물·유의점</a:t>
            </a:r>
          </a:p>
          <a:p>
            <a:r>
              <a:t>★ 웹앱 사용 습관 자가 점검</a:t>
            </a:r>
          </a:p>
          <a:p>
            <a:r>
              <a:t>★ 디지털 웰빙 약속판</a:t>
            </a:r>
          </a:p>
          <a:p>
            <a:r>
              <a:t>△ 응답은 익명으로 처리하고 개인 결과를 공개하지 않기</a:t>
            </a:r>
          </a:p>
          <a:p>
            <a:r>
              <a:t>△ 도움이 필요해 보이는 학생은 수업 후 개별 면담으로 연결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[활동 2] AI가 못 하는 일 찾기</a:t>
            </a:r>
          </a:p>
          <a:p>
            <a:r>
              <a:t>- AI에게 부탁할 수 없는 일에는 무엇이 있을까요?</a:t>
            </a:r>
          </a:p>
          <a:p>
            <a:r>
              <a:t>  · 친구와 화해하기, 함께 웃기, 안아 주기입니다.</a:t>
            </a:r>
          </a:p>
          <a:p>
            <a:r>
              <a:t>- 마음이 많이 힘들 때는 누구에게 말해야 할까요?</a:t>
            </a:r>
          </a:p>
          <a:p>
            <a:r>
              <a:t>  · 부모님, 선생님처럼 믿을 수 있는 어른에게 먼저 말해야 합니다.</a:t>
            </a:r>
          </a:p>
          <a:p/>
          <a:p>
            <a:r>
              <a:t>준비물·유의점</a:t>
            </a:r>
          </a:p>
          <a:p>
            <a:r>
              <a:t>★ 웹앱 사용 습관 자가 점검</a:t>
            </a:r>
          </a:p>
          <a:p>
            <a:r>
              <a:t>★ 디지털 웰빙 약속판</a:t>
            </a:r>
          </a:p>
          <a:p>
            <a:r>
              <a:t>△ 응답은 익명으로 처리하고 개인 결과를 공개하지 않기</a:t>
            </a:r>
          </a:p>
          <a:p>
            <a:r>
              <a:t>△ 도움이 필요해 보이는 학생은 수업 후 개별 면담으로 연결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[활동 3] 디지털 웰빙 약속 정하기</a:t>
            </a:r>
          </a:p>
          <a:p>
            <a:r>
              <a:t>- 내가 지킬 약속 3가지를 구체적으로 적어 봅시다.</a:t>
            </a:r>
          </a:p>
          <a:p>
            <a:r>
              <a:t>  · 자기 전 30분은 화면을 보지 않겠다고 정했습니다.</a:t>
            </a:r>
          </a:p>
          <a:p/>
          <a:p>
            <a:r>
              <a:t>준비물·유의점</a:t>
            </a:r>
          </a:p>
          <a:p>
            <a:r>
              <a:t>★ 웹앱 사용 습관 자가 점검</a:t>
            </a:r>
          </a:p>
          <a:p>
            <a:r>
              <a:t>★ 디지털 웰빙 약속판</a:t>
            </a:r>
          </a:p>
          <a:p>
            <a:r>
              <a:t>△ 응답은 익명으로 처리하고 개인 결과를 공개하지 않기</a:t>
            </a:r>
          </a:p>
          <a:p>
            <a:r>
              <a:t>△ 도움이 필요해 보이는 학생은 수업 후 개별 면담으로 연결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방 코드를 만들어 화면에 크게 띄운다.</a:t>
            </a:r>
          </a:p>
          <a:p>
            <a:r>
              <a:t>혼자 체험 경로도 함께 안내한다.</a:t>
            </a:r>
          </a:p>
          <a:p>
            <a:r>
              <a:t>교사 화면 : 학급 익명 집계만 표시. 개별 응답을 볼 수 있는 화면을 만들지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1인 1기기가 아니어도 모두 참여하게 한다.</a:t>
            </a:r>
          </a:p>
          <a:p>
            <a:r>
              <a:t>응답은 익명으로 처리하고 개인 결과를 공개하지 않는다.</a:t>
            </a:r>
          </a:p>
          <a:p>
            <a:r>
              <a:t>사용량이 많은 학생을 지적하는 분위기가 되지 않게 한다.</a:t>
            </a:r>
          </a:p>
          <a:p>
            <a:r>
              <a:t>정서적 어려움이 드러나면 수업 후 개별 면담으로 연결한다.</a:t>
            </a:r>
          </a:p>
          <a:p>
            <a:r>
              <a:t>위험 신호를 개인별로 표시하는 화면을 만들지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배움 정리</a:t>
            </a:r>
          </a:p>
          <a:p>
            <a:r>
              <a:t>- 오늘 정한 약속 중 오늘 바로 지킬 수 있는 것은 무엇인가요?</a:t>
            </a:r>
          </a:p>
          <a:p>
            <a:r>
              <a:t>  · 모르는 것을 먼저 스스로 생각해 보는 일입니다.</a:t>
            </a:r>
          </a:p>
          <a:p/>
          <a:p>
            <a:r>
              <a:t>준비물</a:t>
            </a:r>
          </a:p>
          <a:p>
            <a:r>
              <a:t>★ 디지털 웰빙 약속 3가지</a:t>
            </a:r>
          </a:p>
          <a:p>
            <a:r>
              <a:t>△ 힘든 마음은 어른에게 말하기 안내 문구 재확인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다음 차시 예고</a:t>
            </a:r>
          </a:p>
          <a:p>
            <a:r>
              <a:t>- 다음 시간에는 AI로 우리 마을의 문제를 도와봅시다.</a:t>
            </a:r>
          </a:p>
          <a:p/>
          <a:p>
            <a:r>
              <a:t>준비물</a:t>
            </a:r>
          </a:p>
          <a:p>
            <a:r>
              <a:t>★ 디지털 웰빙 약속 3가지</a:t>
            </a:r>
          </a:p>
          <a:p>
            <a:r>
              <a:t>△ 힘든 마음은 어른에게 말하기 안내 문구 재확인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수업 시작 전에 방을 만들어 둔다.</a:t>
            </a:r>
          </a:p>
          <a:p>
            <a:r>
              <a:t>학생에게는 방 번호와 닉네임만 알려 준다. 이름을 묻지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학생 화면을 띄워 놓고 함께 입장한다.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화면에서 학생이 무엇을 하는지 먼저 말해 준다.</a:t>
            </a:r>
          </a:p>
          <a:p>
            <a:r>
              <a:t>판단이 갈리는 자리에서 까닭을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화면에서 학생이 무엇을 하는지 먼저 말해 준다.</a:t>
            </a:r>
          </a:p>
          <a:p>
            <a:r>
              <a:t>판단이 갈리는 자리에서 까닭을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화면에서 학생이 무엇을 하는지 먼저 말해 준다.</a:t>
            </a:r>
          </a:p>
          <a:p>
            <a:r>
              <a:t>판단이 갈리는 자리에서 까닭을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화면에서 학생이 무엇을 하는지 먼저 말해 준다.</a:t>
            </a:r>
          </a:p>
          <a:p>
            <a:r>
              <a:t>판단이 갈리는 자리에서 까닭을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화면에서 학생이 무엇을 하는지 먼저 말해 준다.</a:t>
            </a:r>
          </a:p>
          <a:p>
            <a:r>
              <a:t>판단이 갈리는 자리에서 까닭을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화면에서 학생이 무엇을 하는지 먼저 말해 준다.</a:t>
            </a:r>
          </a:p>
          <a:p>
            <a:r>
              <a:t>판단이 갈리는 자리에서 까닭을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제출이 모이면 갈린 항목부터 함께 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 배운 것을 학생이 한 문장으로 말하게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059669"/>
                </a:solidFill>
                <a:latin typeface="맑은 고딕"/>
              </a:rPr>
              <a:t>10차시  ·  모듈3 WISE 실천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545775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800" b="1">
                <a:solidFill>
                  <a:srgbClr val="1F2937"/>
                </a:solidFill>
                <a:latin typeface="맑은 고딕"/>
              </a:rPr>
              <a:t>AI에 기대도 괜찮을까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1054577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>
                <a:solidFill>
                  <a:srgbClr val="6B7280"/>
                </a:solidFill>
                <a:latin typeface="맑은 고딕"/>
              </a:rPr>
              <a:t>나의 AI 사용 습관을 점검하고 디지털 웰빙 약속을 정해 봅시다.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43600"/>
            <a:ext cx="1054577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280"/>
                </a:solidFill>
                <a:latin typeface="맑은 고딕"/>
              </a:rPr>
              <a:t>2026년 G-DEAL A.N.D · CC BY-NC-SA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94560"/>
            <a:ext cx="12191695" cy="246888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059669"/>
                </a:solidFill>
                <a:latin typeface="맑은 고딕"/>
              </a:rPr>
              <a:t>학습 문제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545775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1F2937"/>
                </a:solidFill>
                <a:latin typeface="맑은 고딕"/>
              </a:rPr>
              <a:t>나의 AI 사용 습관을 점검하고 디지털 웰빙 약속을 정해 봅시다.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59669"/>
                </a:solidFill>
                <a:latin typeface="맑은 고딕"/>
              </a:rPr>
              <a:t>도입 · 동기 유발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45775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800" b="0">
                <a:solidFill>
                  <a:srgbClr val="1F2937"/>
                </a:solidFill>
                <a:latin typeface="맑은 고딕"/>
              </a:rPr>
              <a:t>AI가 아주 잘하는 일 세 가지를 말해 봅시다.</a:t>
            </a:r>
          </a:p>
          <a:p>
            <a:pPr algn="l">
              <a:lnSpc>
                <a:spcPct val="160000"/>
              </a:lnSpc>
            </a:pPr>
            <a:r>
              <a:rPr sz="2800" b="0">
                <a:solidFill>
                  <a:srgbClr val="1F2937"/>
                </a:solidFill>
                <a:latin typeface="맑은 고딕"/>
              </a:rPr>
              <a:t>그럼 AI가 못 하는 일도 있을까요?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059669"/>
                </a:solidFill>
                <a:latin typeface="맑은 고딕"/>
              </a:rPr>
              <a:t>[활동 1] 일주일 사용 습관 점검하기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점검표에 최근 일주일 동안 AI를 언제, 왜 썼는지 표시해 봅시다.</a:t>
            </a:r>
          </a:p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그중 보조였던 것과 대행이었던 것을 나눠 봅시다.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059669"/>
                </a:solidFill>
                <a:latin typeface="맑은 고딕"/>
              </a:rPr>
              <a:t>[활동 2] AI가 못 하는 일 찾기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AI에게 부탁할 수 없는 일에는 무엇이 있을까요?</a:t>
            </a:r>
          </a:p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마음이 많이 힘들 때는 누구에게 말해야 할까요?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059669"/>
                </a:solidFill>
                <a:latin typeface="맑은 고딕"/>
              </a:rPr>
              <a:t>[활동 3] 디지털 웰빙 약속 정하기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내가 지킬 약속 3가지를 구체적으로 적어 봅시다.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59669"/>
                </a:solidFill>
                <a:latin typeface="맑은 고딕"/>
              </a:rPr>
              <a:t>오늘 쓰는 웹앱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4577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>
                <a:solidFill>
                  <a:srgbClr val="1F2937"/>
                </a:solidFill>
                <a:latin typeface="맑은 고딕"/>
              </a:rPr>
              <a:t>사용 습관 자가 점검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54577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6B7280"/>
                </a:solidFill>
                <a:latin typeface="맑은 고딕"/>
              </a:rPr>
              <a:t>일주일 사용 습관을 익명으로 점검하고 학급 평균만 보여 주며, 디지털 웰빙 약속 3가지를 정한다.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57600"/>
            <a:ext cx="10545775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· 일주일 사용 기록 체크</a:t>
            </a:r>
          </a:p>
          <a:p>
            <a:pPr algn="l">
              <a:lnSpc>
                <a:spcPct val="15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· 보조·대행 비율 자동 계산</a:t>
            </a:r>
          </a:p>
          <a:p>
            <a:pPr algn="l">
              <a:lnSpc>
                <a:spcPct val="15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· AI가 못 하는 일 모으기</a:t>
            </a:r>
          </a:p>
          <a:p>
            <a:pPr algn="l">
              <a:lnSpc>
                <a:spcPct val="15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· 내 디지털 웰빙 약속 3가지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03120"/>
            <a:ext cx="12191695" cy="23774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59669"/>
                </a:solidFill>
                <a:latin typeface="맑은 고딕"/>
              </a:rPr>
              <a:t>기기가 없어도 함께합니다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10545775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종이 자가 점검표로 진행하고, 학급 집계는 손 들기로 익명 집계한다.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59669"/>
                </a:solidFill>
                <a:latin typeface="맑은 고딕"/>
              </a:rPr>
              <a:t>정리 · 배움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800" b="0">
                <a:solidFill>
                  <a:srgbClr val="1F2937"/>
                </a:solidFill>
                <a:latin typeface="맑은 고딕"/>
              </a:rPr>
              <a:t>오늘 정한 약속 중 오늘 바로 지킬 수 있는 것은 무엇인가요?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59669"/>
                </a:solidFill>
                <a:latin typeface="맑은 고딕"/>
              </a:rPr>
              <a:t>정리 · 다음 차시 예고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800" b="0">
                <a:solidFill>
                  <a:srgbClr val="1F2937"/>
                </a:solidFill>
                <a:latin typeface="맑은 고딕"/>
              </a:rPr>
              <a:t>다음 시간에는 AI로 우리 마을의 문제를 도와봅시다.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59669"/>
                </a:solidFill>
                <a:latin typeface="맑은 고딕"/>
              </a:rPr>
              <a:t>웹앱으로 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67665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1F2937"/>
                </a:solidFill>
                <a:latin typeface="맑은 고딕"/>
              </a:rPr>
              <a:t>사용 습관 자가 점검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51760"/>
            <a:ext cx="67665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>
                <a:solidFill>
                  <a:srgbClr val="1F2937"/>
                </a:solidFill>
                <a:latin typeface="맑은 고딕"/>
              </a:rPr>
              <a:t>일주일 사용 습관을 익명으로 점검하고 학급 평균만 보여 주며, 디지털 웰빙 약속 3가지를 정한다.</a:t>
            </a:r>
          </a:p>
          <a:p>
            <a:pPr algn="l">
              <a:lnSpc>
                <a:spcPct val="150000"/>
              </a:lnSpc>
            </a:pPr>
            <a:r>
              <a:rPr sz="1800" b="0">
                <a:solidFill>
                  <a:srgbClr val="1F2937"/>
                </a:solidFill>
                <a:latin typeface="맑은 고딕"/>
              </a:rPr>
              <a:t>수업 전에 선생님 화면 → 새 방 만들기 → 방 번호를 칠판에 적는다.</a:t>
            </a:r>
          </a:p>
          <a:p>
            <a:pPr algn="l">
              <a:lnSpc>
                <a:spcPct val="150000"/>
              </a:lnSpc>
            </a:pPr>
            <a:r>
              <a:rPr sz="1800" b="0">
                <a:solidFill>
                  <a:srgbClr val="1F2937"/>
                </a:solidFill>
                <a:latin typeface="맑은 고딕"/>
              </a:rPr>
              <a:t>학생은 QR 을 찍거나 주소를 열고 방 번호와 닉네임을 넣는다.</a:t>
            </a:r>
          </a:p>
          <a:p>
            <a:pPr algn="l">
              <a:lnSpc>
                <a:spcPct val="150000"/>
              </a:lnSpc>
            </a:pPr>
            <a:r>
              <a:rPr sz="1800" b="0">
                <a:solidFill>
                  <a:srgbClr val="1F2937"/>
                </a:solidFill>
                <a:latin typeface="맑은 고딕"/>
              </a:rPr>
              <a:t>https://legoschool.github.io/wise-ai/webapp/L10/</a:t>
            </a:r>
          </a:p>
        </p:txBody>
      </p:sp>
      <p:pic>
        <p:nvPicPr>
          <p:cNvPr id="6" name="Picture 5" descr="L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182880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59669"/>
                </a:solidFill>
                <a:latin typeface="맑은 고딕"/>
              </a:rPr>
              <a:t>학생 입장 화면</a:t>
            </a:r>
          </a:p>
        </p:txBody>
      </p:sp>
      <p:pic>
        <p:nvPicPr>
          <p:cNvPr id="4" name="Picture 3" descr="L10_0_입장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4293704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463040"/>
            <a:ext cx="475488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방 번호 여섯 자리와 닉네임만 넣는다.</a:t>
            </a:r>
          </a:p>
          <a:p>
            <a:pPr algn="l">
              <a:lnSpc>
                <a:spcPct val="16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나만 아는 숫자 네 자리는 사전과 사후 설문을 잇는 데만 쓴다.</a:t>
            </a:r>
          </a:p>
          <a:p>
            <a:pPr algn="l">
              <a:lnSpc>
                <a:spcPct val="16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기기가 없으면 둘러보기로 교사가 시연한다.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59669"/>
                </a:solidFill>
                <a:latin typeface="맑은 고딕"/>
              </a:rPr>
              <a:t>웹앱 1단계 · 허브</a:t>
            </a:r>
          </a:p>
        </p:txBody>
      </p:sp>
      <p:pic>
        <p:nvPicPr>
          <p:cNvPr id="4" name="Picture 3" descr="L10_2_hu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3526971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645920"/>
            <a:ext cx="47548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일주일 사용 기록 체크</a:t>
            </a:r>
          </a:p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학생이 여기서 남긴 것이 활동지와 이어진다.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59669"/>
                </a:solidFill>
                <a:latin typeface="맑은 고딕"/>
              </a:rPr>
              <a:t>웹앱 2단계 · 기록칸</a:t>
            </a:r>
          </a:p>
        </p:txBody>
      </p:sp>
      <p:pic>
        <p:nvPicPr>
          <p:cNvPr id="4" name="Picture 3" descr="L10_3_wee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3526971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645920"/>
            <a:ext cx="47548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보조·대행 비율 자동 계산</a:t>
            </a:r>
          </a:p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학생이 여기서 남긴 것이 활동지와 이어진다.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59669"/>
                </a:solidFill>
                <a:latin typeface="맑은 고딕"/>
              </a:rPr>
              <a:t>웹앱 3단계 · 저울칸</a:t>
            </a:r>
          </a:p>
        </p:txBody>
      </p:sp>
      <p:pic>
        <p:nvPicPr>
          <p:cNvPr id="4" name="Picture 3" descr="L10_4_sc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3526971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645920"/>
            <a:ext cx="47548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AI가 못 하는 일 모으기</a:t>
            </a:r>
          </a:p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학생이 여기서 남긴 것이 활동지와 이어진다.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59669"/>
                </a:solidFill>
                <a:latin typeface="맑은 고딕"/>
              </a:rPr>
              <a:t>웹앱 4단계 · 부탁 시험소</a:t>
            </a:r>
          </a:p>
        </p:txBody>
      </p:sp>
      <p:pic>
        <p:nvPicPr>
          <p:cNvPr id="4" name="Picture 3" descr="L10_5_a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3526971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645920"/>
            <a:ext cx="47548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내 디지털 웰빙 약속 3가지</a:t>
            </a:r>
          </a:p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학생이 여기서 남긴 것이 활동지와 이어진다.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59669"/>
                </a:solidFill>
                <a:latin typeface="맑은 고딕"/>
              </a:rPr>
              <a:t>웹앱 5단계 · 약속 작성소</a:t>
            </a:r>
          </a:p>
        </p:txBody>
      </p:sp>
      <p:pic>
        <p:nvPicPr>
          <p:cNvPr id="4" name="Picture 3" descr="L10_6_v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3526971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645920"/>
            <a:ext cx="47548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약속 작성소</a:t>
            </a:r>
          </a:p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학생이 여기서 남긴 것이 활동지와 이어진다.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59669"/>
                </a:solidFill>
                <a:latin typeface="맑은 고딕"/>
              </a:rPr>
              <a:t>웹앱 6단계 · 우리 반과 견주기</a:t>
            </a:r>
          </a:p>
        </p:txBody>
      </p:sp>
      <p:pic>
        <p:nvPicPr>
          <p:cNvPr id="4" name="Picture 3" descr="L10_7_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3526971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645920"/>
            <a:ext cx="47548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우리 반과 견주기</a:t>
            </a:r>
          </a:p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학생이 여기서 남긴 것이 활동지와 이어진다.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59669"/>
                </a:solidFill>
                <a:latin typeface="맑은 고딕"/>
              </a:rPr>
              <a:t>교사 화면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학급 익명 집계만 표시. 개별 응답을 볼 수 있는 화면을 만들지 않는다.</a:t>
            </a:r>
          </a:p>
          <a:p>
            <a:pPr algn="l">
              <a:lnSpc>
                <a:spcPct val="160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결과 크게 띄우기를 누르면 학급 화면으로 함께 본다.</a:t>
            </a:r>
          </a:p>
          <a:p>
            <a:pPr algn="l">
              <a:lnSpc>
                <a:spcPct val="160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CSV 로 내려받고, 수업이 끝나면 방을 잠근다.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59669"/>
                </a:solidFill>
                <a:latin typeface="맑은 고딕"/>
              </a:rPr>
              <a:t>오늘의 배움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· AI 활용 중 발견한 한계를 바탕으로 다음 계획을 세울 수 있다.</a:t>
            </a:r>
          </a:p>
          <a:p>
            <a:pPr algn="l">
              <a:lnSpc>
                <a:spcPct val="160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· AI와 일할 때도 사람과의 관계가 중심이다.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43600"/>
            <a:ext cx="1054577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280"/>
                </a:solidFill>
                <a:latin typeface="맑은 고딕"/>
              </a:rPr>
              <a:t>2026년 G-DEAL A.N.D · CC BY-NC-SA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