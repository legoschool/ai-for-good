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오늘 배울 것을 한 문장으로 소개한다.</a:t>
            </a:r>
          </a:p>
          <a:p>
            <a:r>
              <a:t>우리 생활과 지역의 문제를 찾고 AI로 도울 수 있는지 판단해 봅시다.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학습 문제를 함께 소리 내어 읽는다.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◎ 동기 유발</a:t>
            </a:r>
          </a:p>
          <a:p>
            <a:r>
              <a:t>- 학교나 마을에서 불편했던 일을 하나씩 떠올려 봅시다.</a:t>
            </a:r>
          </a:p>
          <a:p>
            <a:r>
              <a:t>  · 급식실 줄이 너무 길어서 오래 기다립니다.</a:t>
            </a:r>
          </a:p>
          <a:p>
            <a:r>
              <a:t>- 이런 문제를 AI가 도와줄 수 있을까요?</a:t>
            </a:r>
          </a:p>
          <a:p>
            <a:r>
              <a:t>  · 어떤 것은 되고 어떤 것은 안 될 것 같습니다.</a:t>
            </a:r>
          </a:p>
          <a:p/>
          <a:p>
            <a:r>
              <a:t>준비물</a:t>
            </a:r>
          </a:p>
          <a:p>
            <a:r>
              <a:t>☆ 마을 사진 자료</a:t>
            </a:r>
          </a:p>
          <a:p>
            <a:r>
              <a:t>★ 문제 탐색 활동지</a:t>
            </a:r>
          </a:p>
          <a:p>
            <a:r>
              <a:t>△ 해결 가능한 크기의 문제로 좁히도록 지도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◎ [활동 1] 문제 찾고 좁히기</a:t>
            </a:r>
          </a:p>
          <a:p>
            <a:r>
              <a:t>- 모둠에서 문제를 3개 모으고 가장 해 보고 싶은 하나를 골라 봅시다.</a:t>
            </a:r>
          </a:p>
          <a:p>
            <a:r>
              <a:t>  · 분리배출을 어려워하는 문제를 골랐습니다.</a:t>
            </a:r>
          </a:p>
          <a:p>
            <a:r>
              <a:t>- 누가, 언제, 무엇 때문에 불편한지 한 문장으로 적어 봅시다.</a:t>
            </a:r>
          </a:p>
          <a:p>
            <a:r>
              <a:t>  · 저학년 동생들이 어떤 통에 넣을지 몰라 망설입니다.</a:t>
            </a:r>
          </a:p>
          <a:p/>
          <a:p>
            <a:r>
              <a:t>준비물·유의점</a:t>
            </a:r>
          </a:p>
          <a:p>
            <a:r>
              <a:t>☆ 엔트리</a:t>
            </a:r>
          </a:p>
          <a:p>
            <a:r>
              <a:t>★ 웹앱 AI for Good 프로젝트 보드</a:t>
            </a:r>
          </a:p>
          <a:p>
            <a:r>
              <a:t>△ 1차시 라벨링 경험과 연결해 주기</a:t>
            </a:r>
          </a:p>
          <a:p>
            <a:r>
              <a:t>△ 사람 얼굴이 담긴 사진은 쓰지 않도록 지도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◎ [활동 2] AI 활용 적합성 판단하기</a:t>
            </a:r>
          </a:p>
          <a:p>
            <a:r>
              <a:t>- 6차시 신호등 기준으로 이 문제에 AI를 쓰는 것은 몇 번 신호일까요?</a:t>
            </a:r>
          </a:p>
          <a:p>
            <a:r>
              <a:t>  · 초록입니다. 개인정보가 들어가지 않고 배움에도 도움이 됩니다.</a:t>
            </a:r>
          </a:p>
          <a:p>
            <a:r>
              <a:t>- AI에게 맡길 일과 우리가 할 일을 나눠 봅시다.</a:t>
            </a:r>
          </a:p>
          <a:p>
            <a:r>
              <a:t>  · 분류 모델은 AI가, 어떤 사진을 모을지는 우리가 정합니다.</a:t>
            </a:r>
          </a:p>
          <a:p/>
          <a:p>
            <a:r>
              <a:t>준비물·유의점</a:t>
            </a:r>
          </a:p>
          <a:p>
            <a:r>
              <a:t>☆ 엔트리</a:t>
            </a:r>
          </a:p>
          <a:p>
            <a:r>
              <a:t>★ 웹앱 AI for Good 프로젝트 보드</a:t>
            </a:r>
          </a:p>
          <a:p>
            <a:r>
              <a:t>△ 1차시 라벨링 경험과 연결해 주기</a:t>
            </a:r>
          </a:p>
          <a:p>
            <a:r>
              <a:t>△ 사람 얼굴이 담긴 사진은 쓰지 않도록 지도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◎ [활동 3] 해결 절차 설계하기</a:t>
            </a:r>
          </a:p>
          <a:p>
            <a:r>
              <a:t>- 해결 순서를 네 단계로 그려 봅시다.</a:t>
            </a:r>
          </a:p>
          <a:p>
            <a:r>
              <a:t>  · 사진 모으기, 라벨 붙이기, 모델 만들기, 안내판 만들기입니다.</a:t>
            </a:r>
          </a:p>
          <a:p/>
          <a:p>
            <a:r>
              <a:t>준비물·유의점</a:t>
            </a:r>
          </a:p>
          <a:p>
            <a:r>
              <a:t>☆ 엔트리</a:t>
            </a:r>
          </a:p>
          <a:p>
            <a:r>
              <a:t>★ 웹앱 AI for Good 프로젝트 보드</a:t>
            </a:r>
          </a:p>
          <a:p>
            <a:r>
              <a:t>△ 1차시 라벨링 경험과 연결해 주기</a:t>
            </a:r>
          </a:p>
          <a:p>
            <a:r>
              <a:t>△ 사람 얼굴이 담긴 사진은 쓰지 않도록 지도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방 코드를 만들어 화면에 크게 띄운다.</a:t>
            </a:r>
          </a:p>
          <a:p>
            <a:r>
              <a:t>혼자 체험 경로도 함께 안내한다.</a:t>
            </a:r>
          </a:p>
          <a:p>
            <a:r>
              <a:t>교사 화면 : 모둠별 문제와 진행 단계 한눈에 보기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1인 1기기가 아니어도 모두 참여하게 한다.</a:t>
            </a:r>
          </a:p>
          <a:p>
            <a:r>
              <a:t>사람 얼굴이 담긴 사진은 쓰지 않는다.</a:t>
            </a:r>
          </a:p>
          <a:p>
            <a:r>
              <a:t>해결 가능한 크기의 문제로 좁히도록 지도한다.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◎ 배움 정리</a:t>
            </a:r>
          </a:p>
          <a:p>
            <a:r>
              <a:t>- 우리 모둠 계획에서 사람이 꼭 해야 할 일은 무엇인가요?</a:t>
            </a:r>
          </a:p>
          <a:p>
            <a:r>
              <a:t>  · 어떤 문제를 풀지 정하고, 결과가 맞는지 확인하는 일입니다.</a:t>
            </a:r>
          </a:p>
          <a:p/>
          <a:p>
            <a:r>
              <a:t>준비물</a:t>
            </a:r>
          </a:p>
          <a:p>
            <a:r>
              <a:t>★ 문제 정의서, 해결 절차 설계도</a:t>
            </a:r>
          </a:p>
          <a:p>
            <a:r>
              <a:t>△ 다음 차시 준비물 안내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◎ 다음 차시 예고</a:t>
            </a:r>
          </a:p>
          <a:p>
            <a:r>
              <a:t>- 다음 시간에는 계획대로 만들어 발표해 봅시다.</a:t>
            </a:r>
          </a:p>
          <a:p/>
          <a:p>
            <a:r>
              <a:t>준비물</a:t>
            </a:r>
          </a:p>
          <a:p>
            <a:r>
              <a:t>★ 문제 정의서, 해결 절차 설계도</a:t>
            </a:r>
          </a:p>
          <a:p>
            <a:r>
              <a:t>△ 다음 차시 준비물 안내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수업 시작 전에 방을 만들어 둔다.</a:t>
            </a:r>
          </a:p>
          <a:p>
            <a:r>
              <a:t>학생에게는 방 번호와 닉네임만 알려 준다. 이름을 묻지 않는다.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학생 화면을 띄워 놓고 함께 입장한다.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화면에서 학생이 무엇을 하는지 먼저 말해 준다.</a:t>
            </a:r>
          </a:p>
          <a:p>
            <a:r>
              <a:t>판단이 갈리는 자리에서 까닭을 묻는다.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화면에서 학생이 무엇을 하는지 먼저 말해 준다.</a:t>
            </a:r>
          </a:p>
          <a:p>
            <a:r>
              <a:t>판단이 갈리는 자리에서 까닭을 묻는다.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화면에서 학생이 무엇을 하는지 먼저 말해 준다.</a:t>
            </a:r>
          </a:p>
          <a:p>
            <a:r>
              <a:t>판단이 갈리는 자리에서 까닭을 묻는다.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화면에서 학생이 무엇을 하는지 먼저 말해 준다.</a:t>
            </a:r>
          </a:p>
          <a:p>
            <a:r>
              <a:t>판단이 갈리는 자리에서 까닭을 묻는다.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화면에서 학생이 무엇을 하는지 먼저 말해 준다.</a:t>
            </a:r>
          </a:p>
          <a:p>
            <a:r>
              <a:t>판단이 갈리는 자리에서 까닭을 묻는다.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화면에서 학생이 무엇을 하는지 먼저 말해 준다.</a:t>
            </a:r>
          </a:p>
          <a:p>
            <a:r>
              <a:t>판단이 갈리는 자리에서 까닭을 묻는다.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제출이 모이면 갈린 항목부터 함께 본다.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오늘 배운 것을 학생이 한 문장으로 말하게 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56032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>
                <a:solidFill>
                  <a:srgbClr val="059669"/>
                </a:solidFill>
                <a:latin typeface="맑은 고딕"/>
              </a:rPr>
              <a:t>11차시  ·  모듈3 WISE 실천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468880"/>
            <a:ext cx="10545775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4800" b="1">
                <a:solidFill>
                  <a:srgbClr val="1F2937"/>
                </a:solidFill>
                <a:latin typeface="맑은 고딕"/>
              </a:rPr>
              <a:t>AI for Good 프로젝트(1), 문제를 찾고 판단하기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114800"/>
            <a:ext cx="10545775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0">
                <a:solidFill>
                  <a:srgbClr val="6B7280"/>
                </a:solidFill>
                <a:latin typeface="맑은 고딕"/>
              </a:rPr>
              <a:t>우리 생활과 지역의 문제를 찾고 AI로 도울 수 있는지 판단해 봅시다.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943600"/>
            <a:ext cx="1054577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6B7280"/>
                </a:solidFill>
                <a:latin typeface="맑은 고딕"/>
              </a:rPr>
              <a:t>2026년 G-DEAL A.N.D · CC BY-NC-SA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194560"/>
            <a:ext cx="12191695" cy="246888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>
                <a:solidFill>
                  <a:srgbClr val="059669"/>
                </a:solidFill>
                <a:latin typeface="맑은 고딕"/>
              </a:rPr>
              <a:t>학습 문제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51760"/>
            <a:ext cx="10545775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>
                <a:solidFill>
                  <a:srgbClr val="1F2937"/>
                </a:solidFill>
                <a:latin typeface="맑은 고딕"/>
              </a:rPr>
              <a:t>우리 생활과 지역의 문제를 찾고 AI로 도울 수 있는지 판단해 봅시다.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059669"/>
                </a:solidFill>
                <a:latin typeface="맑은 고딕"/>
              </a:rPr>
              <a:t>도입 · 동기 유발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737360"/>
            <a:ext cx="10545775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2800" b="0">
                <a:solidFill>
                  <a:srgbClr val="1F2937"/>
                </a:solidFill>
                <a:latin typeface="맑은 고딕"/>
              </a:rPr>
              <a:t>학교나 마을에서 불편했던 일을 하나씩 떠올려 봅시다.</a:t>
            </a:r>
          </a:p>
          <a:p>
            <a:pPr algn="l">
              <a:lnSpc>
                <a:spcPct val="160000"/>
              </a:lnSpc>
            </a:pPr>
            <a:r>
              <a:rPr sz="2800" b="0">
                <a:solidFill>
                  <a:srgbClr val="1F2937"/>
                </a:solidFill>
                <a:latin typeface="맑은 고딕"/>
              </a:rPr>
              <a:t>이런 문제를 AI가 도와줄 수 있을까요?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059669"/>
                </a:solidFill>
                <a:latin typeface="맑은 고딕"/>
              </a:rPr>
              <a:t>[활동 1] 문제 찾고 좁히기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45775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70000"/>
              </a:lnSpc>
            </a:pPr>
            <a:r>
              <a:rPr sz="2600" b="0">
                <a:solidFill>
                  <a:srgbClr val="1F2937"/>
                </a:solidFill>
                <a:latin typeface="맑은 고딕"/>
              </a:rPr>
              <a:t>모둠에서 문제를 3개 모으고 가장 해 보고 싶은 하나를 골라 봅시다.</a:t>
            </a:r>
          </a:p>
          <a:p>
            <a:pPr algn="l">
              <a:lnSpc>
                <a:spcPct val="170000"/>
              </a:lnSpc>
            </a:pPr>
            <a:r>
              <a:rPr sz="2600" b="0">
                <a:solidFill>
                  <a:srgbClr val="1F2937"/>
                </a:solidFill>
                <a:latin typeface="맑은 고딕"/>
              </a:rPr>
              <a:t>누가, 언제, 무엇 때문에 불편한지 한 문장으로 적어 봅시다.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059669"/>
                </a:solidFill>
                <a:latin typeface="맑은 고딕"/>
              </a:rPr>
              <a:t>[활동 2] AI 활용 적합성 판단하기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45775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70000"/>
              </a:lnSpc>
            </a:pPr>
            <a:r>
              <a:rPr sz="2600" b="0">
                <a:solidFill>
                  <a:srgbClr val="1F2937"/>
                </a:solidFill>
                <a:latin typeface="맑은 고딕"/>
              </a:rPr>
              <a:t>6차시 신호등 기준으로 이 문제에 AI를 쓰는 것은 몇 번 신호일까요?</a:t>
            </a:r>
          </a:p>
          <a:p>
            <a:pPr algn="l">
              <a:lnSpc>
                <a:spcPct val="170000"/>
              </a:lnSpc>
            </a:pPr>
            <a:r>
              <a:rPr sz="2600" b="0">
                <a:solidFill>
                  <a:srgbClr val="1F2937"/>
                </a:solidFill>
                <a:latin typeface="맑은 고딕"/>
              </a:rPr>
              <a:t>AI에게 맡길 일과 우리가 할 일을 나눠 봅시다.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059669"/>
                </a:solidFill>
                <a:latin typeface="맑은 고딕"/>
              </a:rPr>
              <a:t>[활동 3] 해결 절차 설계하기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45775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70000"/>
              </a:lnSpc>
            </a:pPr>
            <a:r>
              <a:rPr sz="2600" b="0">
                <a:solidFill>
                  <a:srgbClr val="1F2937"/>
                </a:solidFill>
                <a:latin typeface="맑은 고딕"/>
              </a:rPr>
              <a:t>해결 순서를 네 단계로 그려 봅시다.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059669"/>
                </a:solidFill>
                <a:latin typeface="맑은 고딕"/>
              </a:rPr>
              <a:t>오늘 쓰는 웹앱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63040"/>
            <a:ext cx="1054577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800" b="1">
                <a:solidFill>
                  <a:srgbClr val="1F2937"/>
                </a:solidFill>
                <a:latin typeface="맑은 고딕"/>
              </a:rPr>
              <a:t>AI for Good 프로젝트 보드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468880"/>
            <a:ext cx="10545775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0">
                <a:solidFill>
                  <a:srgbClr val="6B7280"/>
                </a:solidFill>
                <a:latin typeface="맑은 고딕"/>
              </a:rPr>
              <a:t>모둠이 고른 문제를 등록하고 6차시 신호등 기준으로 AI 활용 적합성을 판단한 뒤 해결 절차 4단계를 설계한다.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657600"/>
            <a:ext cx="10545775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000" b="0">
                <a:solidFill>
                  <a:srgbClr val="1F2937"/>
                </a:solidFill>
                <a:latin typeface="맑은 고딕"/>
              </a:rPr>
              <a:t>· 문제 등록</a:t>
            </a:r>
          </a:p>
          <a:p>
            <a:pPr algn="l">
              <a:lnSpc>
                <a:spcPct val="150000"/>
              </a:lnSpc>
            </a:pPr>
            <a:r>
              <a:rPr sz="2000" b="0">
                <a:solidFill>
                  <a:srgbClr val="1F2937"/>
                </a:solidFill>
                <a:latin typeface="맑은 고딕"/>
              </a:rPr>
              <a:t>· 누가·언제·왜 한 문장</a:t>
            </a:r>
          </a:p>
          <a:p>
            <a:pPr algn="l">
              <a:lnSpc>
                <a:spcPct val="150000"/>
              </a:lnSpc>
            </a:pPr>
            <a:r>
              <a:rPr sz="2000" b="0">
                <a:solidFill>
                  <a:srgbClr val="1F2937"/>
                </a:solidFill>
                <a:latin typeface="맑은 고딕"/>
              </a:rPr>
              <a:t>· 신호등 적합성 판단</a:t>
            </a:r>
          </a:p>
          <a:p>
            <a:pPr algn="l">
              <a:lnSpc>
                <a:spcPct val="150000"/>
              </a:lnSpc>
            </a:pPr>
            <a:r>
              <a:rPr sz="2000" b="0">
                <a:solidFill>
                  <a:srgbClr val="1F2937"/>
                </a:solidFill>
                <a:latin typeface="맑은 고딕"/>
              </a:rPr>
              <a:t>· 해결 절차 4단계 설계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103120"/>
            <a:ext cx="12191695" cy="237744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28016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059669"/>
                </a:solidFill>
                <a:latin typeface="맑은 고딕"/>
              </a:rPr>
              <a:t>기기가 없어도 함께합니다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560320"/>
            <a:ext cx="10545775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0">
                <a:solidFill>
                  <a:srgbClr val="1F2937"/>
                </a:solidFill>
                <a:latin typeface="맑은 고딕"/>
              </a:rPr>
              <a:t>웹앱 없이 종이 설계도에 4단계를 그리고, 모둠 발표로 공유한다.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059669"/>
                </a:solidFill>
                <a:latin typeface="맑은 고딕"/>
              </a:rPr>
              <a:t>정리 · 배움 정리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45775" cy="3291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2800" b="0">
                <a:solidFill>
                  <a:srgbClr val="1F2937"/>
                </a:solidFill>
                <a:latin typeface="맑은 고딕"/>
              </a:rPr>
              <a:t>우리 모둠 계획에서 사람이 꼭 해야 할 일은 무엇인가요?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059669"/>
                </a:solidFill>
                <a:latin typeface="맑은 고딕"/>
              </a:rPr>
              <a:t>정리 · 다음 차시 예고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45775" cy="3291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2800" b="0">
                <a:solidFill>
                  <a:srgbClr val="1F2937"/>
                </a:solidFill>
                <a:latin typeface="맑은 고딕"/>
              </a:rPr>
              <a:t>다음 시간에는 계획대로 만들어 발표해 봅시다.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059669"/>
                </a:solidFill>
                <a:latin typeface="맑은 고딕"/>
              </a:rPr>
              <a:t>웹앱으로 합니다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63040"/>
            <a:ext cx="676656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4000" b="1">
                <a:solidFill>
                  <a:srgbClr val="1F2937"/>
                </a:solidFill>
                <a:latin typeface="맑은 고딕"/>
              </a:rPr>
              <a:t>AI for Good 프로젝트 보드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651760"/>
            <a:ext cx="676656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800" b="0">
                <a:solidFill>
                  <a:srgbClr val="1F2937"/>
                </a:solidFill>
                <a:latin typeface="맑은 고딕"/>
              </a:rPr>
              <a:t>모둠이 고른 문제를 등록하고 6차시 신호등 기준으로 AI 활용 적합성을 판단한 뒤 해결 절차 4단계를 설계한다.</a:t>
            </a:r>
          </a:p>
          <a:p>
            <a:pPr algn="l">
              <a:lnSpc>
                <a:spcPct val="150000"/>
              </a:lnSpc>
            </a:pPr>
            <a:r>
              <a:rPr sz="1800" b="0">
                <a:solidFill>
                  <a:srgbClr val="1F2937"/>
                </a:solidFill>
                <a:latin typeface="맑은 고딕"/>
              </a:rPr>
              <a:t>수업 전에 선생님 화면 → 새 방 만들기 → 방 번호를 칠판에 적는다.</a:t>
            </a:r>
          </a:p>
          <a:p>
            <a:pPr algn="l">
              <a:lnSpc>
                <a:spcPct val="150000"/>
              </a:lnSpc>
            </a:pPr>
            <a:r>
              <a:rPr sz="1800" b="0">
                <a:solidFill>
                  <a:srgbClr val="1F2937"/>
                </a:solidFill>
                <a:latin typeface="맑은 고딕"/>
              </a:rPr>
              <a:t>학생은 QR 을 찍거나 주소를 열고 방 번호와 닉네임을 넣는다.</a:t>
            </a:r>
          </a:p>
          <a:p>
            <a:pPr algn="l">
              <a:lnSpc>
                <a:spcPct val="150000"/>
              </a:lnSpc>
            </a:pPr>
            <a:r>
              <a:rPr sz="1800" b="0">
                <a:solidFill>
                  <a:srgbClr val="1F2937"/>
                </a:solidFill>
                <a:latin typeface="맑은 고딕"/>
              </a:rPr>
              <a:t>https://legoschool.github.io/wise-ai/webapp/L11/</a:t>
            </a:r>
          </a:p>
        </p:txBody>
      </p:sp>
      <p:pic>
        <p:nvPicPr>
          <p:cNvPr id="6" name="Picture 5" descr="L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0" y="1828800"/>
            <a:ext cx="2743200" cy="27432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059669"/>
                </a:solidFill>
                <a:latin typeface="맑은 고딕"/>
              </a:rPr>
              <a:t>학생 입장 화면</a:t>
            </a:r>
          </a:p>
        </p:txBody>
      </p:sp>
      <p:pic>
        <p:nvPicPr>
          <p:cNvPr id="4" name="Picture 3" descr="L11_0_입장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280160"/>
            <a:ext cx="4293704" cy="49377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949440" y="1463040"/>
            <a:ext cx="4754880" cy="3291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2000" b="0">
                <a:solidFill>
                  <a:srgbClr val="1F2937"/>
                </a:solidFill>
                <a:latin typeface="맑은 고딕"/>
              </a:rPr>
              <a:t>방 번호 여섯 자리와 닉네임만 넣는다.</a:t>
            </a:r>
          </a:p>
          <a:p>
            <a:pPr algn="l">
              <a:lnSpc>
                <a:spcPct val="160000"/>
              </a:lnSpc>
            </a:pPr>
            <a:r>
              <a:rPr sz="2000" b="0">
                <a:solidFill>
                  <a:srgbClr val="1F2937"/>
                </a:solidFill>
                <a:latin typeface="맑은 고딕"/>
              </a:rPr>
              <a:t>나만 아는 숫자 네 자리는 사전과 사후 설문을 잇는 데만 쓴다.</a:t>
            </a:r>
          </a:p>
          <a:p>
            <a:pPr algn="l">
              <a:lnSpc>
                <a:spcPct val="160000"/>
              </a:lnSpc>
            </a:pPr>
            <a:r>
              <a:rPr sz="2000" b="0">
                <a:solidFill>
                  <a:srgbClr val="1F2937"/>
                </a:solidFill>
                <a:latin typeface="맑은 고딕"/>
              </a:rPr>
              <a:t>기기가 없으면 둘러보기로 교사가 시연한다.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059669"/>
                </a:solidFill>
                <a:latin typeface="맑은 고딕"/>
              </a:rPr>
              <a:t>웹앱 1단계 · 허브</a:t>
            </a:r>
          </a:p>
        </p:txBody>
      </p:sp>
      <p:pic>
        <p:nvPicPr>
          <p:cNvPr id="4" name="Picture 3" descr="L11_2_hu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280160"/>
            <a:ext cx="3526971" cy="49377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949440" y="1645920"/>
            <a:ext cx="475488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2200" b="0">
                <a:solidFill>
                  <a:srgbClr val="1F2937"/>
                </a:solidFill>
                <a:latin typeface="맑은 고딕"/>
              </a:rPr>
              <a:t>문제 등록</a:t>
            </a:r>
          </a:p>
          <a:p>
            <a:pPr algn="l">
              <a:lnSpc>
                <a:spcPct val="160000"/>
              </a:lnSpc>
            </a:pPr>
            <a:r>
              <a:rPr sz="2200" b="0">
                <a:solidFill>
                  <a:srgbClr val="1F2937"/>
                </a:solidFill>
                <a:latin typeface="맑은 고딕"/>
              </a:rPr>
              <a:t>학생이 여기서 남긴 것이 활동지와 이어진다.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059669"/>
                </a:solidFill>
                <a:latin typeface="맑은 고딕"/>
              </a:rPr>
              <a:t>웹앱 2단계 · obs</a:t>
            </a:r>
          </a:p>
        </p:txBody>
      </p:sp>
      <p:pic>
        <p:nvPicPr>
          <p:cNvPr id="4" name="Picture 3" descr="L11_3_ob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280160"/>
            <a:ext cx="3526971" cy="49377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949440" y="1645920"/>
            <a:ext cx="475488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2200" b="0">
                <a:solidFill>
                  <a:srgbClr val="1F2937"/>
                </a:solidFill>
                <a:latin typeface="맑은 고딕"/>
              </a:rPr>
              <a:t>누가·언제·왜 한 문장</a:t>
            </a:r>
          </a:p>
          <a:p>
            <a:pPr algn="l">
              <a:lnSpc>
                <a:spcPct val="160000"/>
              </a:lnSpc>
            </a:pPr>
            <a:r>
              <a:rPr sz="2200" b="0">
                <a:solidFill>
                  <a:srgbClr val="1F2937"/>
                </a:solidFill>
                <a:latin typeface="맑은 고딕"/>
              </a:rPr>
              <a:t>학생이 여기서 남긴 것이 활동지와 이어진다.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059669"/>
                </a:solidFill>
                <a:latin typeface="맑은 고딕"/>
              </a:rPr>
              <a:t>웹앱 3단계 · narrow</a:t>
            </a:r>
          </a:p>
        </p:txBody>
      </p:sp>
      <p:pic>
        <p:nvPicPr>
          <p:cNvPr id="4" name="Picture 3" descr="L11_4_narr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280160"/>
            <a:ext cx="3526971" cy="49377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949440" y="1645920"/>
            <a:ext cx="475488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2200" b="0">
                <a:solidFill>
                  <a:srgbClr val="1F2937"/>
                </a:solidFill>
                <a:latin typeface="맑은 고딕"/>
              </a:rPr>
              <a:t>신호등 적합성 판단</a:t>
            </a:r>
          </a:p>
          <a:p>
            <a:pPr algn="l">
              <a:lnSpc>
                <a:spcPct val="160000"/>
              </a:lnSpc>
            </a:pPr>
            <a:r>
              <a:rPr sz="2200" b="0">
                <a:solidFill>
                  <a:srgbClr val="1F2937"/>
                </a:solidFill>
                <a:latin typeface="맑은 고딕"/>
              </a:rPr>
              <a:t>학생이 여기서 남긴 것이 활동지와 이어진다.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059669"/>
                </a:solidFill>
                <a:latin typeface="맑은 고딕"/>
              </a:rPr>
              <a:t>웹앱 4단계 · 판정</a:t>
            </a:r>
          </a:p>
        </p:txBody>
      </p:sp>
      <p:pic>
        <p:nvPicPr>
          <p:cNvPr id="4" name="Picture 3" descr="L11_5_jud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280160"/>
            <a:ext cx="3526971" cy="49377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949440" y="1645920"/>
            <a:ext cx="475488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2200" b="0">
                <a:solidFill>
                  <a:srgbClr val="1F2937"/>
                </a:solidFill>
                <a:latin typeface="맑은 고딕"/>
              </a:rPr>
              <a:t>해결 절차 4단계 설계</a:t>
            </a:r>
          </a:p>
          <a:p>
            <a:pPr algn="l">
              <a:lnSpc>
                <a:spcPct val="160000"/>
              </a:lnSpc>
            </a:pPr>
            <a:r>
              <a:rPr sz="2200" b="0">
                <a:solidFill>
                  <a:srgbClr val="1F2937"/>
                </a:solidFill>
                <a:latin typeface="맑은 고딕"/>
              </a:rPr>
              <a:t>학생이 여기서 남긴 것이 활동지와 이어진다.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059669"/>
                </a:solidFill>
                <a:latin typeface="맑은 고딕"/>
              </a:rPr>
              <a:t>웹앱 5단계 · role</a:t>
            </a:r>
          </a:p>
        </p:txBody>
      </p:sp>
      <p:pic>
        <p:nvPicPr>
          <p:cNvPr id="4" name="Picture 3" descr="L11_6_ro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280160"/>
            <a:ext cx="3526971" cy="49377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949440" y="1645920"/>
            <a:ext cx="475488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2200" b="0">
                <a:solidFill>
                  <a:srgbClr val="1F2937"/>
                </a:solidFill>
                <a:latin typeface="맑은 고딕"/>
              </a:rPr>
              <a:t>role</a:t>
            </a:r>
          </a:p>
          <a:p>
            <a:pPr algn="l">
              <a:lnSpc>
                <a:spcPct val="160000"/>
              </a:lnSpc>
            </a:pPr>
            <a:r>
              <a:rPr sz="2200" b="0">
                <a:solidFill>
                  <a:srgbClr val="1F2937"/>
                </a:solidFill>
                <a:latin typeface="맑은 고딕"/>
              </a:rPr>
              <a:t>학생이 여기서 남긴 것이 활동지와 이어진다.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059669"/>
                </a:solidFill>
                <a:latin typeface="맑은 고딕"/>
              </a:rPr>
              <a:t>웹앱 6단계 · plan</a:t>
            </a:r>
          </a:p>
        </p:txBody>
      </p:sp>
      <p:pic>
        <p:nvPicPr>
          <p:cNvPr id="4" name="Picture 3" descr="L11_7_pl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280160"/>
            <a:ext cx="3526971" cy="49377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949440" y="1645920"/>
            <a:ext cx="475488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2200" b="0">
                <a:solidFill>
                  <a:srgbClr val="1F2937"/>
                </a:solidFill>
                <a:latin typeface="맑은 고딕"/>
              </a:rPr>
              <a:t>plan</a:t>
            </a:r>
          </a:p>
          <a:p>
            <a:pPr algn="l">
              <a:lnSpc>
                <a:spcPct val="160000"/>
              </a:lnSpc>
            </a:pPr>
            <a:r>
              <a:rPr sz="2200" b="0">
                <a:solidFill>
                  <a:srgbClr val="1F2937"/>
                </a:solidFill>
                <a:latin typeface="맑은 고딕"/>
              </a:rPr>
              <a:t>학생이 여기서 남긴 것이 활동지와 이어진다.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91440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059669"/>
                </a:solidFill>
                <a:latin typeface="맑은 고딕"/>
              </a:rPr>
              <a:t>교사 화면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45775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2400" b="0">
                <a:solidFill>
                  <a:srgbClr val="1F2937"/>
                </a:solidFill>
                <a:latin typeface="맑은 고딕"/>
              </a:rPr>
              <a:t>모둠별 문제와 진행 단계 한눈에 보기</a:t>
            </a:r>
          </a:p>
          <a:p>
            <a:pPr algn="l">
              <a:lnSpc>
                <a:spcPct val="160000"/>
              </a:lnSpc>
            </a:pPr>
            <a:r>
              <a:rPr sz="2400" b="0">
                <a:solidFill>
                  <a:srgbClr val="1F2937"/>
                </a:solidFill>
                <a:latin typeface="맑은 고딕"/>
              </a:rPr>
              <a:t>결과 크게 띄우기를 누르면 학급 화면으로 함께 본다.</a:t>
            </a:r>
          </a:p>
          <a:p>
            <a:pPr algn="l">
              <a:lnSpc>
                <a:spcPct val="160000"/>
              </a:lnSpc>
            </a:pPr>
            <a:r>
              <a:rPr sz="2400" b="0">
                <a:solidFill>
                  <a:srgbClr val="1F2937"/>
                </a:solidFill>
                <a:latin typeface="맑은 고딕"/>
              </a:rPr>
              <a:t>CSV 로 내려받고, 수업이 끝나면 방을 잠근다.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91440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059669"/>
                </a:solidFill>
                <a:latin typeface="맑은 고딕"/>
              </a:rPr>
              <a:t>오늘의 배움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45775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2400" b="0">
                <a:solidFill>
                  <a:srgbClr val="1F2937"/>
                </a:solidFill>
                <a:latin typeface="맑은 고딕"/>
              </a:rPr>
              <a:t>· 모든 문제를 AI로 푸는 것이 아니라, 문제의 성격에 따라 활용 여부와 방식이 달라진다.</a:t>
            </a:r>
          </a:p>
          <a:p>
            <a:pPr algn="l">
              <a:lnSpc>
                <a:spcPct val="160000"/>
              </a:lnSpc>
            </a:pPr>
            <a:r>
              <a:rPr sz="2400" b="0">
                <a:solidFill>
                  <a:srgbClr val="1F2937"/>
                </a:solidFill>
                <a:latin typeface="맑은 고딕"/>
              </a:rPr>
              <a:t>· 일반적인 해결책이 우리 마을 상황에 그대로 맞지는 않는다.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943600"/>
            <a:ext cx="1054577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6B7280"/>
                </a:solidFill>
                <a:latin typeface="맑은 고딕"/>
              </a:rPr>
              <a:t>2026년 G-DEAL A.N.D · CC BY-NC-SA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