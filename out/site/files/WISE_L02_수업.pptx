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배울 것을 한 문장으로 소개한다.</a:t>
            </a:r>
          </a:p>
          <a:p>
            <a:r>
              <a:t>AI의 답이 정말 맞는지 확인하는 방법을 찾아봅시다.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 문제를 함께 소리 내어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동기 유발</a:t>
            </a:r>
          </a:p>
          <a:p>
            <a:r>
              <a:t>- 우리 학교가 언제 문을 열었는지 AI에게 물어보았습니다. 이 답이 맞을까요?</a:t>
            </a:r>
          </a:p>
          <a:p>
            <a:r>
              <a:t>  · 그럴듯해 보입니다.</a:t>
            </a:r>
          </a:p>
          <a:p>
            <a:r>
              <a:t>  · 확인해 봐야 알 것 같습니다.</a:t>
            </a:r>
          </a:p>
          <a:p>
            <a:r>
              <a:t>- AI가 자신 있게 틀린 답을 말하는 것을 무엇이라고 부를까요?</a:t>
            </a:r>
          </a:p>
          <a:p>
            <a:r>
              <a:t>  · 환각, 할루시네이션이라고 배웠습니다.</a:t>
            </a:r>
          </a:p>
          <a:p/>
          <a:p>
            <a:r>
              <a:t>준비물</a:t>
            </a:r>
          </a:p>
          <a:p>
            <a:r>
              <a:t>☆ 학교 관련 AI 답변 화면</a:t>
            </a:r>
          </a:p>
          <a:p>
            <a:r>
              <a:t>★ 학습문제 PPT</a:t>
            </a:r>
          </a:p>
          <a:p>
            <a:r>
              <a:t>△ 특정 서비스 비방으로 흐르지 않게 안내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1] 같은 질문, 다른 답</a:t>
            </a:r>
          </a:p>
          <a:p>
            <a:r>
              <a:t>- 같은 질문을 두 가지 도구에 넣어 봅시다. 답이 같은가요?</a:t>
            </a:r>
          </a:p>
          <a:p>
            <a:r>
              <a:t>  · 숫자와 날짜가 서로 다릅니다.</a:t>
            </a:r>
          </a:p>
          <a:p>
            <a:r>
              <a:t>  · 한쪽은 없는 자료를 말합니다.</a:t>
            </a:r>
          </a:p>
          <a:p>
            <a:r>
              <a:t>- 답이 다르다는 것은 무엇을 뜻할까요?</a:t>
            </a:r>
          </a:p>
          <a:p>
            <a:r>
              <a:t>  · 둘 중 하나는 틀렸다는 뜻이고, 확인이 필요하다는 뜻입니다.</a:t>
            </a:r>
          </a:p>
          <a:p/>
          <a:p>
            <a:r>
              <a:t>준비물·유의점</a:t>
            </a:r>
          </a:p>
          <a:p>
            <a:r>
              <a:t>☆ 생성형 AI(교사 시연 또는 모둠 공용)</a:t>
            </a:r>
          </a:p>
          <a:p>
            <a:r>
              <a:t>★ 교차 검증 기록지</a:t>
            </a:r>
          </a:p>
          <a:p>
            <a:r>
              <a:t>★ 웹앱 AI 검증 실험실</a:t>
            </a:r>
          </a:p>
          <a:p>
            <a:r>
              <a:t>△ 사실 확인이 되는 질문으로 한정</a:t>
            </a:r>
          </a:p>
          <a:p>
            <a:r>
              <a:t>△ 개인 이름을 넣어 검색하지 않도록 지도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2] 검증 3단계 익히기</a:t>
            </a:r>
          </a:p>
          <a:p>
            <a:r>
              <a:t>- ① 출처 확인, ② 교과서·공공 누리집과 대조, ③ 내 말로 정리 순서로 확인해 봅시다.</a:t>
            </a:r>
          </a:p>
          <a:p>
            <a:r>
              <a:t>  · AI가 말한 출처를 찾아보니 그런 자료가 없었습니다.</a:t>
            </a:r>
          </a:p>
          <a:p>
            <a:r>
              <a:t>- 확인해 보니 무엇이 달라졌나요?</a:t>
            </a:r>
          </a:p>
          <a:p>
            <a:r>
              <a:t>  · 믿을 수 있는 부분과 아닌 부분을 나눌 수 있게 되었습니다.</a:t>
            </a:r>
          </a:p>
          <a:p/>
          <a:p>
            <a:r>
              <a:t>준비물·유의점</a:t>
            </a:r>
          </a:p>
          <a:p>
            <a:r>
              <a:t>☆ 생성형 AI(교사 시연 또는 모둠 공용)</a:t>
            </a:r>
          </a:p>
          <a:p>
            <a:r>
              <a:t>★ 교차 검증 기록지</a:t>
            </a:r>
          </a:p>
          <a:p>
            <a:r>
              <a:t>★ 웹앱 AI 검증 실험실</a:t>
            </a:r>
          </a:p>
          <a:p>
            <a:r>
              <a:t>△ 사실 확인이 되는 질문으로 한정</a:t>
            </a:r>
          </a:p>
          <a:p>
            <a:r>
              <a:t>△ 개인 이름을 넣어 검색하지 않도록 지도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3] 환각 사례 카드 만들기</a:t>
            </a:r>
          </a:p>
          <a:p>
            <a:r>
              <a:t>- 찾아낸 환각 사례를 카드 2장에 적고, 어떻게 확인했는지 함께 적어 봅시다.</a:t>
            </a:r>
          </a:p>
          <a:p>
            <a:r>
              <a:t>  · AI가 만든 책 제목이 실제로는 없었습니다. 도서관 검색으로 확인했습니다.</a:t>
            </a:r>
          </a:p>
          <a:p/>
          <a:p>
            <a:r>
              <a:t>준비물·유의점</a:t>
            </a:r>
          </a:p>
          <a:p>
            <a:r>
              <a:t>☆ 생성형 AI(교사 시연 또는 모둠 공용)</a:t>
            </a:r>
          </a:p>
          <a:p>
            <a:r>
              <a:t>★ 교차 검증 기록지</a:t>
            </a:r>
          </a:p>
          <a:p>
            <a:r>
              <a:t>★ 웹앱 AI 검증 실험실</a:t>
            </a:r>
          </a:p>
          <a:p>
            <a:r>
              <a:t>△ 사실 확인이 되는 질문으로 한정</a:t>
            </a:r>
          </a:p>
          <a:p>
            <a:r>
              <a:t>△ 개인 이름을 넣어 검색하지 않도록 지도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방 코드를 만들어 화면에 크게 띄운다.</a:t>
            </a:r>
          </a:p>
          <a:p>
            <a:r>
              <a:t>혼자 체험 경로도 함께 안내한다.</a:t>
            </a:r>
          </a:p>
          <a:p>
            <a:r>
              <a:t>교사 화면 : 문항별 판정 분포, 학급 정답률, 학생이 만든 환각 사례 카드 모음, 배움 문장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1단계 · 5분</a:t>
            </a:r>
          </a:p>
          <a:p>
            <a:r>
              <a:t>그럴듯하게 쓰인 답 하나를 먼저 보여 주고 믿을지 말지 투표한다. 확인하기 전에는 사람도 속는다는 것을 겪는다.</a:t>
            </a:r>
          </a:p>
          <a:p/>
          <a:p>
            <a:r>
              <a:t>발문 : 이 답을 믿어도 될까요? 무엇을 보고 그렇게 생각했나요?</a:t>
            </a:r>
          </a:p>
          <a:p>
            <a:r>
              <a:t>예상 답변 : 말투가 자신 있어서 맞는 것 같습니다.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2단계 · 11분</a:t>
            </a:r>
          </a:p>
          <a:p>
            <a:r>
              <a:t>질문 다섯 개에 두 도구가 내놓은 답이 나란히 뜬다. 서로 다른 곳을 눌러 표시하고 어느 쪽이 의심스러운지 고른다.</a:t>
            </a:r>
          </a:p>
          <a:p/>
          <a:p>
            <a:r>
              <a:t>발문 : 답이 다르다는 것은 무엇을 뜻할까요?</a:t>
            </a:r>
          </a:p>
          <a:p>
            <a:r>
              <a:t>예상 답변 : 둘 중 하나는 틀렸다는 뜻이고, 확인이 필요하다는 뜻입니다.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3단계 · 12분</a:t>
            </a:r>
          </a:p>
          <a:p>
            <a:r>
              <a:t>교과서와 공공 누리집에서 가져온 근거 자료가 앱 안에 들어 있다. 출처 확인, 자료 대조, 내 말로 정리의 3단계를 밟아 판정한다.</a:t>
            </a:r>
          </a:p>
          <a:p/>
          <a:p>
            <a:r>
              <a:t>발문 : 확인해 보니 무엇이 달라졌나요?</a:t>
            </a:r>
          </a:p>
          <a:p>
            <a:r>
              <a:t>예상 답변 : 믿을 수 있는 부분과 아닌 부분을 나눌 수 있게 되었습니다.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4단계 · 7분</a:t>
            </a:r>
          </a:p>
          <a:p>
            <a:r>
              <a:t>찾아낸 환각을 카드 두 장에 적는다. 무엇이 틀렸는지와 어떻게 확인했는지를 함께 쓴다.</a:t>
            </a:r>
          </a:p>
          <a:p/>
          <a:p>
            <a:r>
              <a:t>발문 : 이 답이 틀렸다는 것을 어떻게 알아냈나요?</a:t>
            </a:r>
          </a:p>
          <a:p>
            <a:r>
              <a:t>예상 답변 : AI가 말한 출처를 찾아보니 그런 자료가 없었습니다.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5단계 · 5분</a:t>
            </a:r>
          </a:p>
          <a:p>
            <a:r>
              <a:t>내 판정과 실제 판정을 맞춰 보고 학급 집계를 함께 본다. 배운 것을 한 문장으로 남긴다.</a:t>
            </a:r>
          </a:p>
          <a:p/>
          <a:p>
            <a:r>
              <a:t>발문 : AI의 답을 받았을 때 가장 먼저 할 일은 무엇인가요?</a:t>
            </a:r>
          </a:p>
          <a:p>
            <a:r>
              <a:t>예상 답변 : 어디서 나온 이야기인지 출처를 확인하는 일입니다.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1인 1기기가 아니어도 모두 참여하게 한다.</a:t>
            </a:r>
          </a:p>
          <a:p>
            <a:r>
              <a:t>사실 확인이 가능한 질문으로만 한정한다. 이 앱은 그런 질문 다섯 개만 담고 있다.</a:t>
            </a:r>
          </a:p>
          <a:p>
            <a:r>
              <a:t>개인 이름을 넣어 검색하지 않는다. 이 앱에서는 학생이 직접 질문을 넣지 않는다.</a:t>
            </a:r>
          </a:p>
          <a:p>
            <a:r>
              <a:t>특정 서비스 비방으로 흐르지 않게 한다. 도구 이름을 가 나로만 적었다.</a:t>
            </a:r>
          </a:p>
          <a:p>
            <a:r>
              <a:t>답이 갈리는 문항은 질문이 흐릿해서 갈린다는 점을 짚는다. 틀린 것과 다른 것은 다르다.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배움 정리</a:t>
            </a:r>
          </a:p>
          <a:p>
            <a:r>
              <a:t>- AI의 답을 받았을 때 가장 먼저 할 일은 무엇인가요?</a:t>
            </a:r>
          </a:p>
          <a:p>
            <a:r>
              <a:t>  · 어디서 나온 이야기인지 출처를 확인하는 일입니다.</a:t>
            </a:r>
          </a:p>
          <a:p/>
          <a:p>
            <a:r>
              <a:t>준비물</a:t>
            </a:r>
          </a:p>
          <a:p>
            <a:r>
              <a:t>★ 배움 공책</a:t>
            </a:r>
          </a:p>
          <a:p>
            <a:r>
              <a:t>△ 검증 3단계를 교실 게시물로 남기기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다음 차시 예고</a:t>
            </a:r>
          </a:p>
          <a:p>
            <a:r>
              <a:t>- 다음 시간에는 AI의 답에 숨은 치우침을 찾아봅시다.</a:t>
            </a:r>
          </a:p>
          <a:p/>
          <a:p>
            <a:r>
              <a:t>준비물</a:t>
            </a:r>
          </a:p>
          <a:p>
            <a:r>
              <a:t>★ 배움 공책</a:t>
            </a:r>
          </a:p>
          <a:p>
            <a:r>
              <a:t>△ 검증 3단계를 교실 게시물로 남기기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배운 것을 학생이 한 문장으로 말하게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2563EB"/>
                </a:solidFill>
                <a:latin typeface="맑은 고딕"/>
              </a:rPr>
              <a:t>2차시  ·  모듈1 WISE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800" b="1">
                <a:solidFill>
                  <a:srgbClr val="1F2937"/>
                </a:solidFill>
                <a:latin typeface="맑은 고딕"/>
              </a:rPr>
              <a:t>AI도 틀린다, 환각과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6B7280"/>
                </a:solidFill>
                <a:latin typeface="맑은 고딕"/>
              </a:rPr>
              <a:t>AI의 답이 정말 맞는지 확인하는 방법을 찾아봅시다.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티처스랩 5기 교사연구회 A.N.D · CC BY-NC-SA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4688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2563EB"/>
                </a:solidFill>
                <a:latin typeface="맑은 고딕"/>
              </a:rPr>
              <a:t>학습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F2937"/>
                </a:solidFill>
                <a:latin typeface="맑은 고딕"/>
              </a:rPr>
              <a:t>AI의 답이 정말 맞는지 확인하는 방법을 찾아봅시다.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도입 · 동기 유발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우리 학교가 언제 문을 열었는지 AI에게 물어보았습니다. 이 답이 맞을까요?</a:t>
            </a:r>
          </a:p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AI가 자신 있게 틀린 답을 말하는 것을 무엇이라고 부를까요?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563EB"/>
                </a:solidFill>
                <a:latin typeface="맑은 고딕"/>
              </a:rPr>
              <a:t>[활동 1] 같은 질문, 다른 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같은 질문을 두 가지 도구에 넣어 봅시다. 답이 같은가요?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답이 다르다는 것은 무엇을 뜻할까요?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563EB"/>
                </a:solidFill>
                <a:latin typeface="맑은 고딕"/>
              </a:rPr>
              <a:t>[활동 2] 검증 3단계 익히기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① 출처 확인, ② 교과서·공공 누리집과 대조, ③ 내 말로 정리 순서로 확인해 봅시다.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확인해 보니 무엇이 달라졌나요?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563EB"/>
                </a:solidFill>
                <a:latin typeface="맑은 고딕"/>
              </a:rPr>
              <a:t>[활동 3] 환각 사례 카드 만들기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찾아낸 환각 사례를 카드 2장에 적고, 어떻게 확인했는지 함께 적어 봅시다.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오늘 쓰는 웹앱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1">
                <a:solidFill>
                  <a:srgbClr val="1F2937"/>
                </a:solidFill>
                <a:latin typeface="맑은 고딕"/>
              </a:rPr>
              <a:t>AI 검증 실험실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같은 질문에 두 도구가 내놓은 답을 나란히 놓고 다른 곳을 찾은 뒤, 앱 안에 든 근거 자료와 대조해 검증 3단계를 밟는다. 무엇이 환각이었는지 판정하고 사례 카드로 남긴다.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54577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1단계 나는 이 답을 믿을까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2단계 같은 질문, 다른 답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3단계 근거 자료와 대조하기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4단계 환각 사례 카드 만들기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5단계 판정 결과와 배움 정리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88575" y="640080"/>
            <a:ext cx="128016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658368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5분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0"/>
            <a:ext cx="83512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563EB"/>
                </a:solidFill>
                <a:latin typeface="맑은 고딕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1F2937"/>
                </a:solidFill>
                <a:latin typeface="맑은 고딕"/>
              </a:rPr>
              <a:t>나는 이 답을 믿을까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그럴듯하게 쓰인 답 하나를 먼저 보여 주고 믿을지 말지 투표한다. 확인하기 전에는 사람도 속는다는 것을 겪는다.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1054577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2937"/>
                </a:solidFill>
                <a:latin typeface="맑은 고딕"/>
              </a:rPr>
              <a:t>이 답을 믿어도 될까요? 무엇을 보고 그렇게 생각했나요?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88575" y="640080"/>
            <a:ext cx="128016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658368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11분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0"/>
            <a:ext cx="83512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563EB"/>
                </a:solidFill>
                <a:latin typeface="맑은 고딕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1F2937"/>
                </a:solidFill>
                <a:latin typeface="맑은 고딕"/>
              </a:rPr>
              <a:t>같은 질문, 다른 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질문 다섯 개에 두 도구가 내놓은 답이 나란히 뜬다. 서로 다른 곳을 눌러 표시하고 어느 쪽이 의심스러운지 고른다.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1054577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2937"/>
                </a:solidFill>
                <a:latin typeface="맑은 고딕"/>
              </a:rPr>
              <a:t>답이 다르다는 것은 무엇을 뜻할까요?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88575" y="640080"/>
            <a:ext cx="128016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658368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12분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0"/>
            <a:ext cx="83512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563EB"/>
                </a:solidFill>
                <a:latin typeface="맑은 고딕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1F2937"/>
                </a:solidFill>
                <a:latin typeface="맑은 고딕"/>
              </a:rPr>
              <a:t>근거 자료와 대조하기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교과서와 공공 누리집에서 가져온 근거 자료가 앱 안에 들어 있다. 출처 확인, 자료 대조, 내 말로 정리의 3단계를 밟아 판정한다.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1054577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2937"/>
                </a:solidFill>
                <a:latin typeface="맑은 고딕"/>
              </a:rPr>
              <a:t>확인해 보니 무엇이 달라졌나요?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88575" y="640080"/>
            <a:ext cx="128016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658368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7분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0"/>
            <a:ext cx="83512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563EB"/>
                </a:solidFill>
                <a:latin typeface="맑은 고딕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1F2937"/>
                </a:solidFill>
                <a:latin typeface="맑은 고딕"/>
              </a:rPr>
              <a:t>환각 사례 카드 만들기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찾아낸 환각을 카드 두 장에 적는다. 무엇이 틀렸는지와 어떻게 확인했는지를 함께 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1054577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2937"/>
                </a:solidFill>
                <a:latin typeface="맑은 고딕"/>
              </a:rPr>
              <a:t>이 답이 틀렸다는 것을 어떻게 알아냈나요?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88575" y="640080"/>
            <a:ext cx="128016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658368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5분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0"/>
            <a:ext cx="83512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563EB"/>
                </a:solidFill>
                <a:latin typeface="맑은 고딕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1F2937"/>
                </a:solidFill>
                <a:latin typeface="맑은 고딕"/>
              </a:rPr>
              <a:t>판정 결과와 배움 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내 판정과 실제 판정을 맞춰 보고 학급 집계를 함께 본다. 배운 것을 한 문장으로 남긴다.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1054577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2937"/>
                </a:solidFill>
                <a:latin typeface="맑은 고딕"/>
              </a:rPr>
              <a:t>AI의 답을 받았을 때 가장 먼저 할 일은 무엇인가요?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2377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기기가 없어도 함께합니다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기기가 부족하면 교사 화면 하나로 함께 진행한다. 두 답과 근거 자료를 인쇄해 모둠에 나눠 주고 같은 순서로 대조하면 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정리 · 배움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AI의 답을 받았을 때 가장 먼저 할 일은 무엇인가요?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정리 · 다음 차시 예고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다음 시간에는 AI의 답에 숨은 치우침을 찾아봅시다.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오늘의 배움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AI는 사실이 아닌 것을 사실처럼 만들어 낼 수 있고, 출처 확인과 교차 검증으로 이를 가려낼 수 있다.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같은 질문이라도 묻는 방식과 상황에 따라 AI의 답이 달라진다.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티처스랩 5기 교사연구회 A.N.D · CC BY-NC-SA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